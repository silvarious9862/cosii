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60" r:id="rId5"/>
    <p:sldId id="261" r:id="rId6"/>
    <p:sldId id="284" r:id="rId7"/>
    <p:sldId id="263" r:id="rId8"/>
    <p:sldId id="285" r:id="rId9"/>
    <p:sldId id="286" r:id="rId10"/>
    <p:sldId id="287" r:id="rId11"/>
    <p:sldId id="288" r:id="rId12"/>
    <p:sldId id="289" r:id="rId13"/>
    <p:sldId id="290" r:id="rId14"/>
    <p:sldId id="292" r:id="rId15"/>
    <p:sldId id="293" r:id="rId16"/>
    <p:sldId id="294" r:id="rId17"/>
    <p:sldId id="295" r:id="rId18"/>
    <p:sldId id="297" r:id="rId19"/>
    <p:sldId id="296" r:id="rId20"/>
  </p:sldIdLst>
  <p:sldSz cx="12192000" cy="6858000"/>
  <p:notesSz cx="6797675" cy="992505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55912" autoAdjust="0"/>
  </p:normalViewPr>
  <p:slideViewPr>
    <p:cSldViewPr snapToGrid="0">
      <p:cViewPr varScale="1">
        <p:scale>
          <a:sx n="63" d="100"/>
          <a:sy n="63" d="100"/>
        </p:scale>
        <p:origin x="23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749AC1-8D5E-4EB5-87AD-0760D45420E8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C47C68-5B2F-42B5-95FE-C3031574EEB1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0"/>
            <a:ext cx="5438140" cy="39079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dirty="0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Традиционное преобразование Фурье, которое долгое время было основным инструментом анализа сигналов, имеет существенные ограничения при работе с нестационарными сигналами. Главная проблема заключается в том, что Фурье-анализ дает только глобальную информацию о частотном составе, полностью теряя информацию о том, когда именно эти частотные компоненты появляются во времени.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анализа сигналов с резкими переходами, импульсами и локальными особенностями нам необходим метод, который обеспечивает одновременную локализацию как во времени, так и по частоте. Именно эта потребность и привела к развитию вейвлет-анализа.</a:t>
            </a:r>
          </a:p>
          <a:p>
            <a:endParaRPr lang="LID4096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738760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Итак, что же такое вейвлет? Термин "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wavelet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переводится как "маленькая волна". Вейвлет представляет собой семейство математических функций, которые одновременно локализованы и во времени, и по частоте.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Ключевая идея заключается в том, что все вейвлеты конкретного семейства получаются из одного материнского вейвлета путем двух простых операций: масштабирования и сдвига. Масштабирование позволяет анализировать сигнал на разных частотах, а сдвиг — в разных временных точках.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Важнейшее преимущество вейвлетов — это адаптивное частотно-временное разрешение. Для высоких частот вейвлет узкий во времени, что дает точную временную локализацию. А для низких частот вейвлет становится шире, обеспечивая лучшее частотное разрешение.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506256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Преобразование Фурье хорошо определяет, какие частоты присутствуют в сигнале, но не показывает, в какой момент времени они возникают. Поэтому оно особенно удобно для стационарных сигналов, у которых спектральный состав почти не меняется со временем.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</a:p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Вейвлет-анализ решает эту проблему, потому что одновременно сохраняет информацию и о времени, и о частоте. Это делает его особенно полезным для анализа нестационарных сигналов, содержащих скачки, импульсы и короткие переходные процессы. Кроме того, вейвлеты используют адаптивное разрешение: для высоких частот обеспечивается лучшая локализация по времени, а для низких — более точное частотное представление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4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410534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Сверху показан исходный сигнал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x(t)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: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почти на всем интервале идет медленная синусоида (низкая частота, 5 Гц);</a:t>
            </a:r>
            <a:br>
              <a:rPr lang="ru-RU" b="0" i="0" dirty="0">
                <a:solidFill>
                  <a:srgbClr val="D6D5D4"/>
                </a:solidFill>
                <a:effectLst/>
                <a:latin typeface="pplxSerif"/>
              </a:rPr>
            </a:b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во второй половине появляется короткий высокочастотный “всплеск” (40 Гц), выделенный бежевой полосой.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По этому графику хорошо видно, когда возникает быстрый участок, но не видно точные частоты.</a:t>
            </a: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Слева внизу — модуль Фурье‑преобразования 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X(f) 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всего сигнала. Видно два заметных пика: один около 5 Гц, второй около 40 Гц — это и есть две частоты, присутствующие в сигнале. Но этот спектр глобальный: он показывает, какие частоты были в сигнале в целом, и никак не говорит, в какой момент времени появился высокочастотный всплеск.</a:t>
            </a: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Справа внизу — простая время–частотная карта: по горизонтали время, по вертикали частота, цветом показана относительная амплитуда в каждом окне. Низкая частота (~5 Гц) видна почти на всем интервале времени — она “горит” полосой внизу. Высокая частота (~40 Гц) появляется только в окнах вокруг 0.5–0.75 с, то есть она локализована и по частоте, и по времени.</a:t>
            </a: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Именно такую картинку по сути дает вейвлет‑анализ: мы видим не только какие частоты присутствуют, но и когда они возникают.</a:t>
            </a: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D6D5D4"/>
              </a:solidFill>
              <a:effectLst/>
              <a:latin typeface="pplxSerif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96108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Чтобы функция могла использоваться как вейвлет, она должна удовлетворять нескольким математическим условиям. Во-первых, вейвлет должен иметь конечную энергию, то есть быть квадратично интегрируемым. Это означает, что функция локализована и достаточно быстро убывает.</a:t>
            </a: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Во-вторых, среднее значение вейвлета должно быть равно нулю. Благодаря этому вейвлет хорошо реагирует не на постоянную составляющую сигнала, а именно на изменения, скачки и локальные особенности. В-третьих, важна локализация и во времени, и по частоте, что отличает вейвлеты от обычных синусоид Фурье.</a:t>
            </a: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Наконец, все элементы вейвлет-семейства строятся из одного материнского вейвлета при помощи двух операций: масштабирования и сдвига. Масштаб позволяет анализировать сигнал на разных частотных уровнях, а сдвиг — находить особенности в разных моментах времени.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6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173339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На рисунке показано, что все элементы вейвлет-семейства строятся из одной базовой функции — материнского вейвлета. Если изменить параметр масштаба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a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, вейвлет растягивается или сжимается по времени, что соответствует анализу разных частотных диапазонов. Если изменить параметр сдвига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b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, вейвлет перемещается вдоль оси времени и позволяет находить локальные особенности сигнала в разных точках.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7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195944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Существует два основных типа вейвлет-преобразования: непрерывное и дискретное. </a:t>
            </a:r>
            <a:endParaRPr lang="en-US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Непрерывное вейвлет-преобразование, или CWT, использует непрерывный набор масштабов и сдвигов, поэтому обеспечивает очень подробное описание структуры сигнала во времени и по частоте. Оно особенно полезно для исследовательского анализа и точной локализации переходных процессов, но требует значительных вычислительных ресурсов</a:t>
            </a: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Дискретное вейвлет-преобразование, или DWT, использует дискретный набор масштабов, чаще всего основанный на степенях двойки. Такое преобразование гораздо эффективнее вычислительно, не является избыточным и поэтому широко применяется в задачах сжатия, шумоподавления и цифровой обработки в реальном времени. Практическая реализация DWT обычно опирается на алгоритм Малла, который использует разложение сигнала через фильтр-банки</a:t>
            </a:r>
            <a:endParaRPr lang="en-US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CWT — для детального анализа, DWT — для практической обработки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8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370536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На схеме показан алгоритм Малла для двухуровневого разложения сигнала. Сначала входной сигнал проходит через низкочастотный и высокочастотный фильтры. После этого получаются аппроксимирующие коэффициенты, отражающие медленные изменения сигнала, и детализирующие коэффициенты, содержащие быстрые изменения и высокочастотные компоненты. Затем обе последовательности прореживаются, а дальнейшее разложение выполняется только для аппроксимации, что и образует пирамидальную структуру DWT.</a:t>
            </a:r>
          </a:p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Коэффициенты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a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 показывают сглаженную часть сигнала, то есть его медленные и низкочастотные изменения. Коэффициенты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d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, наоборот, выделяют детали — быстрые скачки, пики и другие высокочастотные особенности. При этом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d1​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 соответствует самым мелким и быстрым деталям, а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d2​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 уже описывает детали более крупного масштаба.</a:t>
            </a: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Если, например,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a1=3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, это значит, что после прохождения через низкочастотный фильтр и прореживания в этом месте обнаружена довольно сильная низкочастотная, сглаженная составляющая сигнала. То есть на данном участке сигнал имеет заметный общий уровень или плавный тренд, который хорошо проходит через НЧ-ветвь. Если бы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a1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 было близко к нулю, это означало бы, что выраженной “гладкой” составляющей в этом фрагменте почти нет. А если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a1​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 отрицательное, то это уже говорит о той же сглаженной компоненте, но с противоположным знаком относительно выбранного базиса и фильтра.</a:t>
            </a: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Аналогично, если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d1=3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, это означает, что в данном месте есть сильная высокочастотная деталь: резкий скачок, быстрый перелом, пик или короткое колебание. Если </a:t>
            </a:r>
            <a:r>
              <a:rPr lang="ru-RU" b="0" i="0" dirty="0">
                <a:solidFill>
                  <a:srgbClr val="D6D5D4"/>
                </a:solidFill>
                <a:effectLst/>
                <a:latin typeface="KaTeX_Main"/>
              </a:rPr>
              <a:t>d1​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 около нуля, значит на этом масштабе заметных быстрых изменений почти нет. Знак тоже важен: положительное и отрицательное значение показывают направление локального изменения, то есть условно “вверх” или “вниз” относительно формы анализирующего вейвлета.</a:t>
            </a:r>
          </a:p>
          <a:p>
            <a:pPr algn="l"/>
            <a:endParaRPr lang="ru-RU" b="0" i="0" dirty="0">
              <a:solidFill>
                <a:srgbClr val="D6D5D4"/>
              </a:solidFill>
              <a:effectLst/>
              <a:latin typeface="pplxSerif"/>
            </a:endParaRP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9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777098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Существует несколько основных семейств вейвлетов, и каждое из них имеет свои особенности. Вейвлет Хаара является самым простым и хорошо подходит для сигналов с резкими скачками. Вейвлеты Добеши широко применяются на практике благодаря компактному носителю и хорошим вычислительным свойствам.</a:t>
            </a:r>
          </a:p>
          <a:p>
            <a:pPr algn="l"/>
            <a:endParaRPr lang="ru-RU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Симлеты являются более симметричной версией вейвлетов Добеши, а койфлеты обладают улучшенными моментными свойствами и удобны для анализа более гладких сигналов. Для непрерывного анализа часто используют вейвлеты Морле и Mexican Hat, которые хорошо выявляют локальные пики и особенности сигнала. Таким образом, выбор семейства зависит от того, что именно нужно выделить в сигнале: резкие переходы, гладкий тренд или локальные структуры.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10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03864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Обычный JPEG делит изображение на блоки 8×8, поэтому при сильном сжатии становятся заметны границы между блоками. JPEG2000 работает через вейвлет-разложение по масштабам, поэтому переходы между областями изображения получаются более плавными, а качество при высоком сжатии оказывается лучше. В реферате отдельно отмечено, что этот подход оказался особенно полезен в медицинских изображениях и поддерживается в DICOM.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11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455698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Вейвлеты удобны тем, что полезный сигнал и шум часто расходятся по коэффициентам разложения, поэтому шум можно подавлять не во всем сигнале сразу, а выборочно.</a:t>
            </a:r>
            <a:r>
              <a:rPr lang="ru-RU" b="1" i="0" dirty="0">
                <a:solidFill>
                  <a:srgbClr val="D6D5D4"/>
                </a:solidFill>
                <a:effectLst/>
                <a:latin typeface="pplxSerif"/>
              </a:rPr>
              <a:t> </a:t>
            </a:r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Сначала сигнал раскладывается в вейвлет-коэффициенты, затем малые коэффициенты, связанные с шумом, подавляются, после чего выполняется обратное преобразование. Именно это делает вейвлетное шумоподавление более аккуратным, чем грубая фильтрация, особенно для нестационарных сигналов.</a:t>
            </a:r>
          </a:p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При мягкой пороговой обработке хорошие результаты показывают, например, Coif5 и Sym4, а уровень декомпозиции обычно выбирают в пределах 2–8 уровней.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12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920670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ЭКГ — нестационарный сигнал, в котором важны и форма, и момент появления характерных элементов, поэтому вейвлеты здесь удобнее обычного спектрального анализа. Особенно ценно то, что метод позволяет не просто увидеть частотные компоненты, а локализовать во времени QRS-комплекс и другие диагностически важные участки.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13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207519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Речевой сигнал является нестационарным, поэтому его нельзя полноценно описать только глобальным спектром. Вейвлет-преобразование позволяет выделять признаки фонем на разных временных масштабах и тем самым точнее анализировать структуру речи. Одни фонемы имеют более плавный характер, а другие содержат короткие высокочастотные участки, поэтому многомасштабный анализ здесь особенно полезен. Дополнительное преимущество состоит в том, что такой подход хорошо согласуется с естественной обработкой звука человеческим слухом.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14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12075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Существует два основных типа вейвлет-преобразования: непрерывное и дискретное. </a:t>
            </a:r>
            <a:endParaRPr lang="en-US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Непрерывное вейвлет-преобразование, или CWT, использует непрерывный набор масштабов и сдвигов, поэтому обеспечивает очень подробное описание структуры сигнала во времени и по частоте. Оно особенно полезно для исследовательского анализа и точной локализации переходных процессов, но требует значительных вычислительных ресурсов</a:t>
            </a: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Дискретное вейвлет-преобразование, или DWT, использует дискретный набор масштабов, чаще всего основанный на степенях двойки. Такое преобразование гораздо эффективнее вычислительно, не является избыточным и поэтому широко применяется в задачах сжатия, шумоподавления и цифровой обработки в реальном времени. Практическая реализация DWT обычно опирается на алгоритм Малла, который использует разложение сигнала через фильтр-банки</a:t>
            </a:r>
            <a:endParaRPr lang="en-US" b="0" i="0" dirty="0">
              <a:solidFill>
                <a:srgbClr val="D6D5D4"/>
              </a:solidFill>
              <a:effectLst/>
              <a:latin typeface="pplxSerif"/>
            </a:endParaRPr>
          </a:p>
          <a:p>
            <a:pPr algn="l"/>
            <a:r>
              <a:rPr lang="ru-RU" b="0" i="0" dirty="0">
                <a:solidFill>
                  <a:srgbClr val="D6D5D4"/>
                </a:solidFill>
                <a:effectLst/>
                <a:latin typeface="pplxSerif"/>
              </a:rPr>
              <a:t>CWT — для детального анализа, DWT — для практической обработки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524A772-5D94-4F12-8B86-44D4FB26368F}" type="slidenum">
              <a:rPr lang="ru-RU" noProof="1" smtClean="0"/>
              <a:t>15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18195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dirty="0" smtClean="0"/>
              <a:t>16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61578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Полилиния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Полилиния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Полилиния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Полилиния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Полилиния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Полилиния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1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DF47DE-273E-488A-93E0-A11ADEA9B9C9}" type="datetime1">
              <a:rPr lang="ru-RU" noProof="1" dirty="0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370B76-9E69-4F47-AA69-EACE3D52D2E7}" type="datetime1">
              <a:rPr lang="ru-RU" noProof="1" dirty="0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D5ABB4-2D0E-4613-A5D0-676E93A46986}" type="datetime1">
              <a:rPr lang="ru-RU" noProof="1" dirty="0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600C73-E6E6-4667-B4A9-574C1A31D491}" type="datetime1">
              <a:rPr lang="ru-RU" noProof="1" dirty="0" smtClean="0"/>
              <a:t>25.05.2026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D6C61B-4BC7-450B-B521-067888A271A6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369D23-9ED2-4009-8E40-364295259D64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259CA2-169F-4CFE-965D-8D91E640A109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509601-BFB2-4950-8529-7030D9D2783A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4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D2D47-3985-403D-BB64-6B05FCF3CD18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853DAC-4AF5-4288-9253-BF40FCA4C3DA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FF79C8-D3F6-4B0D-9805-10EDB1C5EE9C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6AD39-F790-4AE9-A3C0-EDD83650A5A1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9C875-68A5-416C-953F-6060E3FF922E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 с цита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177B04-ADE3-4D48-9249-8F6469DAAEB4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7D222-3BB8-4073-BC98-464DC2B015F1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3A6F1E-4417-474E-8283-614818F2A4DB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E311C0-3E11-41B8-89EC-2FF5859D4CFC}" type="datetime1">
              <a:rPr lang="ru-RU" noProof="1" smtClean="0"/>
              <a:t>25.05.2026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Полилиния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Полилиния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Полилиния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Полилиния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Полилиния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Полилиния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02C4E0A-C8FF-40F8-8BC6-6C75382E8759}" type="datetime1">
              <a:rPr lang="ru-RU" noProof="1" dirty="0" smtClean="0"/>
              <a:t>25.05.2026</a:t>
            </a:fld>
            <a:endParaRPr lang="ru-RU" noProof="1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 rtlCol="0">
            <a:normAutofit/>
          </a:bodyPr>
          <a:lstStyle/>
          <a:p>
            <a:pPr algn="l"/>
            <a:r>
              <a:rPr lang="ru-RU" sz="6200" noProof="1">
                <a:latin typeface="Bebas Neue Pro Exp Eb" panose="020B0706020202050201" pitchFamily="34" charset="-52"/>
              </a:rPr>
              <a:t>Вейвлет-функции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10" y="6179308"/>
            <a:ext cx="7178070" cy="1395457"/>
          </a:xfrm>
        </p:spPr>
        <p:txBody>
          <a:bodyPr rtlCol="0">
            <a:normAutofit/>
          </a:bodyPr>
          <a:lstStyle/>
          <a:p>
            <a:pPr algn="l" rtl="0"/>
            <a:r>
              <a:rPr lang="ru-RU" noProof="1">
                <a:latin typeface="Bebas Neue Pro Exp Rg" panose="020B0506020202050201" pitchFamily="34" charset="-52"/>
              </a:rPr>
              <a:t>Подготовил: студент группы 250541 Бобрик Владимир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 txBox="1">
            <a:spLocks/>
          </p:cNvSpPr>
          <p:nvPr/>
        </p:nvSpPr>
        <p:spPr>
          <a:xfrm>
            <a:off x="63310" y="411925"/>
            <a:ext cx="7178070" cy="1395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noProof="1">
                <a:latin typeface="Bebas Neue Pro Exp Rg" panose="020B0506020202050201" pitchFamily="34" charset="-52"/>
              </a:rPr>
              <a:t>БГУИР, кафедра ЭВМ</a:t>
            </a:r>
          </a:p>
          <a:p>
            <a:pPr algn="l"/>
            <a:r>
              <a:rPr lang="ru-RU" noProof="1">
                <a:latin typeface="Bebas Neue Pro Exp Rg" panose="020B0506020202050201" pitchFamily="34" charset="-52"/>
              </a:rPr>
              <a:t>Цифровая обработка сигналов и изображений</a:t>
            </a: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7937"/>
            <a:ext cx="10018713" cy="1752599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Введение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4310" y="1760537"/>
            <a:ext cx="10018713" cy="4030664"/>
          </a:xfrm>
        </p:spPr>
        <p:txBody>
          <a:bodyPr>
            <a:normAutofit/>
          </a:bodyPr>
          <a:lstStyle/>
          <a:p>
            <a:r>
              <a:rPr lang="ru-RU" dirty="0">
                <a:latin typeface="Bebas Neue Pro Exp Rg" panose="020B0506020202050201" pitchFamily="34" charset="-52"/>
              </a:rPr>
              <a:t>Традиционное преобразование Фурье имеет ограничения при работе с </a:t>
            </a:r>
            <a:r>
              <a:rPr lang="ru-RU" dirty="0" err="1">
                <a:latin typeface="Bebas Neue Pro Exp Rg" panose="020B0506020202050201" pitchFamily="34" charset="-52"/>
              </a:rPr>
              <a:t>нестатичными</a:t>
            </a:r>
            <a:r>
              <a:rPr lang="ru-RU" dirty="0">
                <a:latin typeface="Bebas Neue Pro Exp Rg" panose="020B0506020202050201" pitchFamily="34" charset="-52"/>
              </a:rPr>
              <a:t> сигналами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Фурье-анализ дает только глобальную информацию о частотном составе, но теряет информацию о том, когда эти частотные компоненты появляются во времени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Вейвлет-анализ обеспечивает локализацию сигнала по времени и по частоте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sp>
        <p:nvSpPr>
          <p:cNvPr id="4" name="AutoShape 2" descr="https://www.bouncebackdatarecovery.com/wp-content/uploads/2011/06/raiddatarecovery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4C7-BE68-B113-A6B6-4AD6D242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C9584-BE66-AF33-EAC1-60FABB8C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937"/>
            <a:ext cx="10018713" cy="1752599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Что такое вейвлет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FDFBE-9171-5915-C382-53E25C9CF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60537"/>
            <a:ext cx="10018713" cy="4030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Bebas Neue Pro Exp Rg" panose="020B0506020202050201" pitchFamily="34" charset="-52"/>
              </a:rPr>
              <a:t>Вейвлет (</a:t>
            </a:r>
            <a:r>
              <a:rPr lang="ru-RU" dirty="0" err="1">
                <a:latin typeface="Bebas Neue Pro Exp Rg" panose="020B0506020202050201" pitchFamily="34" charset="-52"/>
              </a:rPr>
              <a:t>wavelet</a:t>
            </a:r>
            <a:r>
              <a:rPr lang="ru-RU" dirty="0">
                <a:latin typeface="Bebas Neue Pro Exp Rg" panose="020B0506020202050201" pitchFamily="34" charset="-52"/>
              </a:rPr>
              <a:t> – «маленькая волна») – семейство функций, локализованных во времени и по частоте одновременно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Все вейвлеты конкретного семейства получаются из одного материнского вейвлета путем двух операций: масштабирования и сдвига.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Масштабирование позволяет анализировать сигнал на разных частотах</a:t>
            </a:r>
          </a:p>
          <a:p>
            <a:r>
              <a:rPr lang="ru-RU" dirty="0">
                <a:latin typeface="Bebas Neue Pro Exp Rg" panose="020B0506020202050201" pitchFamily="34" charset="-52"/>
              </a:rPr>
              <a:t>Сдвиг позволяет анализировать сигнал в разных временных точках.</a:t>
            </a:r>
            <a:endParaRPr lang="en-US" dirty="0">
              <a:latin typeface="Bebas Neue Pro Exp Rg" panose="020B0506020202050201" pitchFamily="34" charset="-52"/>
            </a:endParaRPr>
          </a:p>
        </p:txBody>
      </p:sp>
      <p:sp>
        <p:nvSpPr>
          <p:cNvPr id="4" name="AutoShape 2" descr="https://www.bouncebackdatarecovery.com/wp-content/uploads/2011/06/raiddatarecovery1.jpg">
            <a:extLst>
              <a:ext uri="{FF2B5EF4-FFF2-40B4-BE49-F238E27FC236}">
                <a16:creationId xmlns:a16="http://schemas.microsoft.com/office/drawing/2014/main" id="{CC57312C-7F32-0902-D95A-CC804F49D7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2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1440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Bebas Neue Pro Exp Eb" panose="020B0706020202050201" pitchFamily="34" charset="-52"/>
              </a:rPr>
              <a:t>Сравнение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F6EE85D-30E3-C82F-F5DB-D931AF38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ffectLst/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0"/>
              </a:spcBef>
            </a:pPr>
            <a:r>
              <a:rPr lang="ru-RU" sz="3600" dirty="0">
                <a:ln w="3175" cmpd="sng">
                  <a:noFill/>
                </a:ln>
                <a:solidFill>
                  <a:schemeClr val="tx1"/>
                </a:solidFill>
                <a:latin typeface="Bebas Neue Pro Exp Rg" panose="020B0506020202050201" pitchFamily="34" charset="-52"/>
                <a:ea typeface="+mj-ea"/>
                <a:cs typeface="+mj-cs"/>
              </a:rPr>
              <a:t>Преобразование Фурье</a:t>
            </a:r>
            <a:endParaRPr lang="LID4096" sz="3600" dirty="0">
              <a:ln w="3175" cmpd="sng">
                <a:noFill/>
              </a:ln>
              <a:solidFill>
                <a:schemeClr val="tx1"/>
              </a:solidFill>
              <a:latin typeface="Bebas Neue Pro Exp Rg" panose="020B0506020202050201" pitchFamily="34" charset="-52"/>
              <a:ea typeface="+mj-ea"/>
              <a:cs typeface="+mj-cs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F1F7B9B-D539-7DCF-9A4D-11F87B7019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Показывает глобальный частотный состав сигнала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Не показывает, когда именно частотные компоненты возникают во времени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Лучше подходит для стационарных сигналов</a:t>
            </a:r>
          </a:p>
          <a:p>
            <a:pPr marL="0" indent="0">
              <a:buNone/>
            </a:pPr>
            <a:endParaRPr lang="LID4096" sz="2400" dirty="0">
              <a:latin typeface="Bebas Neue Pro Exp Rg" panose="020B0506020202050201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F2BEE16-E282-63BF-DBD4-2C9874323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3300" dirty="0">
                <a:ln w="3175" cmpd="sng">
                  <a:noFill/>
                </a:ln>
                <a:solidFill>
                  <a:schemeClr val="tx1"/>
                </a:solidFill>
                <a:latin typeface="Bebas Neue Pro Exp Rg" panose="020B0506020202050201" pitchFamily="34" charset="-52"/>
                <a:ea typeface="+mj-ea"/>
                <a:cs typeface="+mj-cs"/>
              </a:rPr>
              <a:t>Вейвлет-анализ</a:t>
            </a:r>
            <a:endParaRPr lang="LID4096" sz="3300" dirty="0">
              <a:ln w="3175" cmpd="sng">
                <a:noFill/>
              </a:ln>
              <a:solidFill>
                <a:schemeClr val="tx1"/>
              </a:solidFill>
              <a:latin typeface="Bebas Neue Pro Exp Rg" panose="020B0506020202050201" pitchFamily="34" charset="-52"/>
              <a:ea typeface="+mj-ea"/>
              <a:cs typeface="+mj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ebas Neue Pro Exp Rg" panose="020B0506020202050201"/>
              </a:rPr>
              <a:t>Обеспечивает локализацию и по времени, и по частоте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ebas Neue Pro Exp Rg" panose="020B0506020202050201"/>
              </a:rPr>
              <a:t>Подходит для нестационарных сигналов с резкими переходами и импульсами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ebas Neue Pro Exp Rg" panose="020B0506020202050201"/>
              </a:rPr>
              <a:t>Использует разные масштабы анализа: высокие частоты — хорошее временное разрешение, низкие — хорошее частотное разрешение</a:t>
            </a:r>
          </a:p>
          <a:p>
            <a:pPr marL="0" indent="0" algn="l">
              <a:buNone/>
            </a:pPr>
            <a:endParaRPr lang="en-US" dirty="0">
              <a:latin typeface="Bebas Neue Pro Exp Rg" panose="020B0506020202050201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4646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A09FAA6-6C38-4DB8-BE1A-1B9BD2AE0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0F3EB08-7F7D-4DAB-B4EA-BC192C38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B40D66D-5572-4C24-B4E9-1D5B712E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365" y="122464"/>
            <a:ext cx="9446330" cy="6613071"/>
          </a:xfrm>
          <a:prstGeom prst="rect">
            <a:avLst/>
          </a:prstGeom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AD191AA-67A3-4D53-91D6-9209F713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1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4C7-BE68-B113-A6B6-4AD6D242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C9584-BE66-AF33-EAC1-60FABB8C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937"/>
            <a:ext cx="10018713" cy="1752599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Математические свойства вейвлета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6FDFBE-9171-5915-C382-53E25C9CF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760537"/>
                <a:ext cx="10018713" cy="4030664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ru-RU" b="1" i="0" dirty="0">
                    <a:effectLst/>
                    <a:latin typeface="Bebas Neue Pro Exp Rg" panose="020B0506020202050201"/>
                  </a:rPr>
                  <a:t>Конечная энергия:</a:t>
                </a:r>
                <a:r>
                  <a:rPr lang="ru-RU" b="0" i="0" dirty="0">
                    <a:effectLst/>
                    <a:latin typeface="Bebas Neue Pro Exp Rg" panose="020B0506020202050201"/>
                  </a:rPr>
                  <a:t> вейвлет должен принадлежать</a:t>
                </a:r>
                <a:r>
                  <a:rPr lang="en-US" b="0" i="0" dirty="0">
                    <a:effectLst/>
                    <a:latin typeface="Bebas Neue Pro Exp Rg" panose="020B0506020202050201"/>
                  </a:rPr>
                  <a:t> </a:t>
                </a:r>
                <a:r>
                  <a:rPr lang="ru-RU" b="0" i="0" dirty="0">
                    <a:effectLst/>
                    <a:latin typeface="Bebas Neue Pro Exp Rg" panose="020B0506020202050201"/>
                  </a:rPr>
                  <a:t>пространству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dirty="0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/>
                      <m:t>ℝ</m:t>
                    </m:r>
                    <m:r>
                      <a:rPr lang="ru-RU" b="0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i="0" dirty="0">
                    <a:effectLst/>
                    <a:latin typeface="Bebas Neue Pro Exp Rg" panose="020B0506020202050201"/>
                  </a:rPr>
                  <a:t>, то есть его энергия конечна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ru-RU" b="1" i="0" dirty="0">
                    <a:effectLst/>
                    <a:latin typeface="Bebas Neue Pro Exp Rg" panose="020B0506020202050201"/>
                  </a:rPr>
                  <a:t>Нулевое среднее значение:</a:t>
                </a:r>
                <a:r>
                  <a:rPr lang="ru-RU" b="0" i="0" dirty="0">
                    <a:effectLst/>
                    <a:latin typeface="Bebas Neue Pro Exp Rg" panose="020B0506020202050201"/>
                  </a:rPr>
                  <a:t> площадь под функцией равна нулю, поэтому вейвлет хорошо выделяет изменения сигнала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1" i="0" dirty="0">
                    <a:effectLst/>
                    <a:latin typeface="Bebas Neue Pro Exp Rg" panose="020B0506020202050201"/>
                  </a:rPr>
                  <a:t>Локализация во времени и по частоте:</a:t>
                </a:r>
                <a:r>
                  <a:rPr lang="ru-RU" b="0" i="0" dirty="0">
                    <a:effectLst/>
                    <a:latin typeface="Bebas Neue Pro Exp Rg" panose="020B0506020202050201"/>
                  </a:rPr>
                  <a:t> вейвлет должен быть сосредоточен в ограниченной области и быстро затухать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b="1" i="0" dirty="0">
                    <a:effectLst/>
                    <a:latin typeface="Bebas Neue Pro Exp Rg" panose="020B0506020202050201"/>
                  </a:rPr>
                  <a:t>Масштабирование и сдвиг:</a:t>
                </a:r>
                <a:r>
                  <a:rPr lang="ru-RU" b="0" i="0" dirty="0">
                    <a:effectLst/>
                    <a:latin typeface="Bebas Neue Pro Exp Rg" panose="020B0506020202050201"/>
                  </a:rPr>
                  <a:t> все функции семейства строятся из одного материнского вейвлета с помощью изменения масштаба и смещения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6FDFBE-9171-5915-C382-53E25C9CF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760537"/>
                <a:ext cx="10018713" cy="4030664"/>
              </a:xfrm>
              <a:blipFill>
                <a:blip r:embed="rId3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https://www.bouncebackdatarecovery.com/wp-content/uploads/2011/06/raiddatarecovery1.jpg">
            <a:extLst>
              <a:ext uri="{FF2B5EF4-FFF2-40B4-BE49-F238E27FC236}">
                <a16:creationId xmlns:a16="http://schemas.microsoft.com/office/drawing/2014/main" id="{CC57312C-7F32-0902-D95A-CC804F49D7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67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4C7-BE68-B113-A6B6-4AD6D242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0CFE27-0A7A-4534-ACF7-139111976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3957"/>
            <a:ext cx="12192000" cy="39292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C9584-BE66-AF33-EAC1-60FABB8C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937"/>
            <a:ext cx="10018713" cy="1752599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Математические свойства вейвлета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6FDFBE-9171-5915-C382-53E25C9CF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175657"/>
                <a:ext cx="10018713" cy="16276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i="1"/>
                            <m:t>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m:rPr>
                          <m:nor/>
                        </m:rPr>
                        <a:rPr lang="el-GR" i="1"/>
                        <m:t>ψ</m:t>
                      </m:r>
                      <m:d>
                        <m:d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br>
                  <a:rPr lang="el-GR" dirty="0"/>
                </a:br>
                <a:endParaRPr lang="ru-RU" b="0" i="0" dirty="0">
                  <a:effectLst/>
                  <a:latin typeface="Bebas Neue Pro Exp Rg" panose="020B0506020202050201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6FDFBE-9171-5915-C382-53E25C9CF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175657"/>
                <a:ext cx="10018713" cy="162766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https://www.bouncebackdatarecovery.com/wp-content/uploads/2011/06/raiddatarecovery1.jpg">
            <a:extLst>
              <a:ext uri="{FF2B5EF4-FFF2-40B4-BE49-F238E27FC236}">
                <a16:creationId xmlns:a16="http://schemas.microsoft.com/office/drawing/2014/main" id="{CC57312C-7F32-0902-D95A-CC804F49D7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1440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Bebas Neue Pro Exp Eb" panose="020B0706020202050201" pitchFamily="34" charset="-52"/>
              </a:rPr>
              <a:t>Типы вейвлет-преобразований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F6EE85D-30E3-C82F-F5DB-D931AF38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8245" y="1603375"/>
            <a:ext cx="4607188" cy="780595"/>
          </a:xfrm>
          <a:effectLst/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Bebas Neue Pro Exp Rg" panose="020B0506020202050201"/>
              </a:rPr>
              <a:t>Непрерывное вейвлет-преобразование (</a:t>
            </a:r>
            <a:r>
              <a:rPr lang="en-US" sz="2400" dirty="0">
                <a:solidFill>
                  <a:schemeClr val="tx1"/>
                </a:solidFill>
                <a:latin typeface="Bebas Neue Pro Exp Rg" panose="020B0506020202050201"/>
              </a:rPr>
              <a:t>CWT)</a:t>
            </a:r>
            <a:endParaRPr lang="LID4096" sz="2400" dirty="0">
              <a:solidFill>
                <a:schemeClr val="tx1"/>
              </a:solidFill>
              <a:latin typeface="Bebas Neue Pro Exp Rg" panose="020B0506020202050201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F1F7B9B-D539-7DCF-9A4D-11F87B701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2514601"/>
            <a:ext cx="4895056" cy="3276598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Масштаб и сдвиг изменяются непрерывно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Дает очень подробное время-частотное представление сигнала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Удобно для анализа и точной локализации переходных процессов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Требует больших вычислительных ресурсов и памяти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F2BEE16-E282-63BF-DBD4-2C9874323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44226" y="1600201"/>
            <a:ext cx="4622537" cy="780594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400" dirty="0">
                <a:ln w="3175" cmpd="sng">
                  <a:noFill/>
                </a:ln>
                <a:solidFill>
                  <a:schemeClr val="tx1"/>
                </a:solidFill>
                <a:latin typeface="Bebas Neue Pro Exp Rg" panose="020B0506020202050201" pitchFamily="34" charset="-52"/>
                <a:ea typeface="+mj-ea"/>
                <a:cs typeface="+mj-cs"/>
              </a:rPr>
              <a:t>Дискретное вейвлет-преобразование (</a:t>
            </a:r>
            <a:r>
              <a:rPr lang="en-US" sz="2400" dirty="0">
                <a:ln w="3175" cmpd="sng">
                  <a:noFill/>
                </a:ln>
                <a:solidFill>
                  <a:schemeClr val="tx1"/>
                </a:solidFill>
                <a:latin typeface="Bebas Neue Pro Exp Rg" panose="020B0506020202050201" pitchFamily="34" charset="-52"/>
                <a:ea typeface="+mj-ea"/>
                <a:cs typeface="+mj-cs"/>
              </a:rPr>
              <a:t>DWT)</a:t>
            </a:r>
            <a:endParaRPr lang="LID4096" sz="2400" dirty="0">
              <a:ln w="3175" cmpd="sng">
                <a:noFill/>
              </a:ln>
              <a:solidFill>
                <a:schemeClr val="tx1"/>
              </a:solidFill>
              <a:latin typeface="Bebas Neue Pro Exp Rg" panose="020B0506020202050201" pitchFamily="34" charset="-52"/>
              <a:ea typeface="+mj-ea"/>
              <a:cs typeface="+mj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sz="quarter" idx="4"/>
          </p:nvPr>
        </p:nvSpPr>
        <p:spPr>
          <a:xfrm>
            <a:off x="6607967" y="2514601"/>
            <a:ext cx="4895056" cy="3276598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Масштабы выбираются дискретно, обычно как степени двойки.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Неизбыточно: число коэффициентов сопоставимо с числом отсчетов сигнала.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Эффективно для сжатия, шумоподавления и обработки в реальном времени.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ebas Neue Pro Exp Rg" panose="020B0506020202050201"/>
              </a:rPr>
              <a:t>Вычисляется быстро, в том числе с помощью алгоритма Малла.</a:t>
            </a:r>
          </a:p>
        </p:txBody>
      </p:sp>
    </p:spTree>
    <p:extLst>
      <p:ext uri="{BB962C8B-B14F-4D97-AF65-F5344CB8AC3E}">
        <p14:creationId xmlns:p14="http://schemas.microsoft.com/office/powerpoint/2010/main" val="153881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DB93-B718-4B17-8B04-FCAB320D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799"/>
            <a:ext cx="3549121" cy="1371600"/>
          </a:xfrm>
        </p:spPr>
        <p:txBody>
          <a:bodyPr anchor="t"/>
          <a:lstStyle/>
          <a:p>
            <a:r>
              <a:rPr lang="ru-RU" dirty="0">
                <a:latin typeface="Bebas Neue Pro Exp Eb" panose="020B0706020202050201"/>
              </a:rPr>
              <a:t>Алгоритм Малла – быстрое вейвлет-преобразование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B425FF-3203-48B9-9143-04D2ABDDC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62563" y="1958135"/>
            <a:ext cx="6240462" cy="256072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FB9FA-4D87-4868-83B7-9538E1737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2" y="2057399"/>
            <a:ext cx="3549121" cy="409847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 На каждом уровне сигнал проходит через </a:t>
            </a:r>
            <a:r>
              <a:rPr lang="ru-RU" i="0" dirty="0">
                <a:effectLst/>
                <a:latin typeface="Bebas Neue Pro Exp Rg" panose="020B0506020202050201"/>
              </a:rPr>
              <a:t>низкочастотный фильтр h и </a:t>
            </a:r>
            <a:br>
              <a:rPr lang="ru-RU" i="0" dirty="0">
                <a:effectLst/>
                <a:latin typeface="Bebas Neue Pro Exp Rg" panose="020B0506020202050201"/>
              </a:rPr>
            </a:br>
            <a:r>
              <a:rPr lang="ru-RU" i="0" dirty="0">
                <a:effectLst/>
                <a:latin typeface="Bebas Neue Pro Exp Rg" panose="020B0506020202050201"/>
              </a:rPr>
              <a:t>высокочастотный фильтр 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 После фильтрации </a:t>
            </a:r>
            <a:r>
              <a:rPr lang="ru-RU" i="0" dirty="0">
                <a:effectLst/>
                <a:latin typeface="Bebas Neue Pro Exp Rg" panose="020B0506020202050201"/>
              </a:rPr>
              <a:t>формируются аппроксимирующие коэффициенты a и детализирующие коэффициенты 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Bebas Neue Pro Exp Rg" panose="020B0506020202050201"/>
              </a:rPr>
              <a:t> Затем выполняется прореживание: из каждой последовательности </a:t>
            </a:r>
            <a:r>
              <a:rPr lang="ru-RU" b="0" i="0" dirty="0">
                <a:effectLst/>
                <a:latin typeface="Bebas Neue Pro Exp Rg" panose="020B0506020202050201"/>
              </a:rPr>
              <a:t>берется каждый второй отсчет.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 Процесс повторяется рекурсивно только для аппроксимации, образуя многоуровневое разложение.</a:t>
            </a:r>
            <a:endParaRPr lang="en-US" b="0" i="0" dirty="0">
              <a:effectLst/>
              <a:latin typeface="Bebas Neue Pro Exp Rg" panose="020B0506020202050201"/>
            </a:endParaRPr>
          </a:p>
          <a:p>
            <a:pPr algn="l"/>
            <a:r>
              <a:rPr lang="ru-RU" i="0" dirty="0">
                <a:effectLst/>
                <a:latin typeface="Bebas Neue Pro Exp Rg" panose="020B0506020202050201"/>
              </a:rPr>
              <a:t>Сложность алгоритма Малла — 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6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4C7-BE68-B113-A6B6-4AD6D242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C9584-BE66-AF33-EAC1-60FABB8C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937"/>
            <a:ext cx="10018713" cy="1249363"/>
          </a:xfrm>
        </p:spPr>
        <p:txBody>
          <a:bodyPr/>
          <a:lstStyle/>
          <a:p>
            <a:r>
              <a:rPr lang="ru-RU" dirty="0">
                <a:latin typeface="Bebas Neue Pro Exp Eb" panose="020B0706020202050201" pitchFamily="34" charset="-52"/>
              </a:rPr>
              <a:t>Основные семейства вейвлетов</a:t>
            </a:r>
            <a:endParaRPr lang="en-US" dirty="0">
              <a:latin typeface="Bebas Neue Pro Exp Eb" panose="020B0706020202050201" pitchFamily="34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FDFBE-9171-5915-C382-53E25C9CF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1600"/>
            <a:ext cx="10018713" cy="441960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Bebas Neue Pro Exp Rg" panose="020B0506020202050201"/>
              </a:rPr>
              <a:t>Хаар</a:t>
            </a:r>
            <a:r>
              <a:rPr lang="ru-RU" b="0" i="0" dirty="0">
                <a:effectLst/>
                <a:latin typeface="Bebas Neue Pro Exp Rg" panose="020B0506020202050201"/>
              </a:rPr>
              <a:t> — самый простой вейвлет, хорошо подходит для резких скачков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Bebas Neue Pro Exp Rg" panose="020B0506020202050201"/>
              </a:rPr>
              <a:t>Добеши (dbN) </a:t>
            </a:r>
            <a:r>
              <a:rPr lang="ru-RU" b="0" i="0" dirty="0">
                <a:effectLst/>
                <a:latin typeface="Bebas Neue Pro Exp Rg" panose="020B0506020202050201"/>
              </a:rPr>
              <a:t>— компактный носитель, ортогональность, широко используются на практике.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Bebas Neue Pro Exp Rg" panose="020B0506020202050201"/>
              </a:rPr>
              <a:t>Симлеты (symN) </a:t>
            </a:r>
            <a:r>
              <a:rPr lang="ru-RU" b="0" i="0" dirty="0">
                <a:effectLst/>
                <a:latin typeface="Bebas Neue Pro Exp Rg" panose="020B0506020202050201"/>
              </a:rPr>
              <a:t>— более симметричная версия вейвлетов Добеши.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Bebas Neue Pro Exp Rg" panose="020B0506020202050201"/>
              </a:rPr>
              <a:t>Койфлеты (coifN) </a:t>
            </a:r>
            <a:r>
              <a:rPr lang="ru-RU" b="0" i="0" dirty="0">
                <a:effectLst/>
                <a:latin typeface="Bebas Neue Pro Exp Rg" panose="020B0506020202050201"/>
              </a:rPr>
              <a:t>— обладают хорошими моментными свойствами, удобны для более точного анализа гладких сигналов.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Bebas Neue Pro Exp Rg" panose="020B0506020202050201"/>
              </a:rPr>
              <a:t>Морле / Мексиканская шляпа </a:t>
            </a:r>
            <a:r>
              <a:rPr lang="ru-RU" b="0" i="0" dirty="0">
                <a:effectLst/>
                <a:latin typeface="Bebas Neue Pro Exp Rg" panose="020B0506020202050201"/>
              </a:rPr>
              <a:t>— непрерывные вейвлеты, часто применяются для анализа локальных особенностей и спектрально-временной структуры</a:t>
            </a:r>
          </a:p>
        </p:txBody>
      </p:sp>
      <p:sp>
        <p:nvSpPr>
          <p:cNvPr id="4" name="AutoShape 2" descr="https://www.bouncebackdatarecovery.com/wp-content/uploads/2011/06/raiddatarecovery1.jpg">
            <a:extLst>
              <a:ext uri="{FF2B5EF4-FFF2-40B4-BE49-F238E27FC236}">
                <a16:creationId xmlns:a16="http://schemas.microsoft.com/office/drawing/2014/main" id="{CC57312C-7F32-0902-D95A-CC804F49D7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87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DB93-B718-4B17-8B04-FCAB320D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32658"/>
            <a:ext cx="3549121" cy="3444197"/>
          </a:xfrm>
        </p:spPr>
        <p:txBody>
          <a:bodyPr anchor="ctr"/>
          <a:lstStyle/>
          <a:p>
            <a:r>
              <a:rPr lang="ru-RU" b="0" i="0" dirty="0">
                <a:effectLst/>
                <a:latin typeface="Bebas Neue Pro Exp Rg" panose="020B0506020202050201"/>
              </a:rPr>
              <a:t>Применение вейвлетов: сжатие изображений в JPEG2000</a:t>
            </a:r>
            <a:endParaRPr lang="en-US" dirty="0">
              <a:latin typeface="Bebas Neue Pro Exp Rg" panose="020B0506020202050201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FB9FA-4D87-4868-83B7-9538E1737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8043" y="-32658"/>
            <a:ext cx="6449786" cy="344419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ebas Neue Pro Exp Rg" panose="020B0506020202050201"/>
              </a:rPr>
              <a:t> JPEG2000 </a:t>
            </a:r>
            <a:r>
              <a:rPr lang="ru-RU" b="0" i="0" dirty="0">
                <a:effectLst/>
                <a:latin typeface="Bebas Neue Pro Exp Rg" panose="020B0506020202050201"/>
              </a:rPr>
              <a:t>использует дискретное вейвлет-преобразование</a:t>
            </a:r>
            <a:endParaRPr lang="en-US" b="0" i="0" dirty="0">
              <a:effectLst/>
              <a:latin typeface="Bebas Neue Pro Exp Rg" panose="020B0506020202050201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 Вейвлетное сжатие уменьшает блочные артефакты, потому что анализирует изображение многомасштабно, а не по фиксированным блокам 8×8</a:t>
            </a:r>
            <a:r>
              <a:rPr lang="en-US" b="0" i="0" dirty="0">
                <a:effectLst/>
                <a:latin typeface="Bebas Neue Pro Exp Rg" panose="020B0506020202050201"/>
              </a:rPr>
              <a:t> </a:t>
            </a:r>
            <a:r>
              <a:rPr lang="ru-RU" b="0" i="0" dirty="0">
                <a:effectLst/>
                <a:latin typeface="Bebas Neue Pro Exp Rg" panose="020B0506020202050201"/>
              </a:rPr>
              <a:t>как в обычном </a:t>
            </a:r>
            <a:r>
              <a:rPr lang="en-US" b="0" i="0" dirty="0">
                <a:effectLst/>
                <a:latin typeface="Bebas Neue Pro Exp Rg" panose="020B0506020202050201"/>
              </a:rPr>
              <a:t>JPEG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Bebas Neue Pro Exp Rg" panose="020B0506020202050201"/>
              </a:rPr>
              <a:t> </a:t>
            </a:r>
            <a:r>
              <a:rPr lang="ru-RU" b="0" i="0" dirty="0">
                <a:effectLst/>
                <a:latin typeface="Bebas Neue Pro Exp Rg" panose="020B0506020202050201"/>
              </a:rPr>
              <a:t>Для сжатия с потерями применяется вейвлет CDF 9/7, а для сжатия без потерь — LeGall 5/3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JPEG2000 особенно важен для медицинской визуализации, где нужно уменьшать объем данных без потери диагностически значимых деталей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97A7CA5-3E68-46DB-962D-C8654D22F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75769" y="3411540"/>
            <a:ext cx="8258288" cy="2844788"/>
          </a:xfrm>
        </p:spPr>
      </p:pic>
    </p:spTree>
    <p:extLst>
      <p:ext uri="{BB962C8B-B14F-4D97-AF65-F5344CB8AC3E}">
        <p14:creationId xmlns:p14="http://schemas.microsoft.com/office/powerpoint/2010/main" val="166840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DB93-B718-4B17-8B04-FCAB320D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4149046" cy="2596242"/>
          </a:xfrm>
        </p:spPr>
        <p:txBody>
          <a:bodyPr anchor="ctr"/>
          <a:lstStyle/>
          <a:p>
            <a:r>
              <a:rPr lang="ru-RU" b="0" i="0" dirty="0">
                <a:effectLst/>
                <a:latin typeface="Bebas Neue Pro Exp Rg" panose="020B0506020202050201"/>
              </a:rPr>
              <a:t>Применение вейвлетов: шумоподавление сигналов</a:t>
            </a:r>
            <a:endParaRPr lang="en-US" dirty="0">
              <a:latin typeface="Bebas Neue Pro Exp Rg" panose="020B0506020202050201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FB9FA-4D87-4868-83B7-9538E1737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1" y="2596242"/>
            <a:ext cx="4083732" cy="3411539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Шум обычно проявляется как высокочастотная компонента малой амплитуды, распределенная по разным масштабам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Сначала для зашумленного сигнала вычисляют дискретное вейвлет-преобразование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Затем выполняют пороговую обработку коэффициентов: шумовые коэффициенты обнуляют или уменьшают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Bebas Neue Pro Exp Rg" panose="020B0506020202050201"/>
              </a:rPr>
              <a:t>После обратного вейвлет-преобразования получают сигнал с меньшим уровнем шума и сохраненной полезной структурой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BC4411-7065-4384-A75F-D44487CF6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68043" y="1871268"/>
            <a:ext cx="6240462" cy="4136513"/>
          </a:xfrm>
        </p:spPr>
      </p:pic>
    </p:spTree>
    <p:extLst>
      <p:ext uri="{BB962C8B-B14F-4D97-AF65-F5344CB8AC3E}">
        <p14:creationId xmlns:p14="http://schemas.microsoft.com/office/powerpoint/2010/main" val="1598276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DB93-B718-4B17-8B04-FCAB320D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2320246" cy="3737701"/>
          </a:xfrm>
        </p:spPr>
        <p:txBody>
          <a:bodyPr anchor="ctr"/>
          <a:lstStyle/>
          <a:p>
            <a:r>
              <a:rPr lang="ru-RU" b="0" i="0" dirty="0">
                <a:effectLst/>
                <a:latin typeface="Bebas Neue Pro Exp Rg" panose="020B0506020202050201"/>
              </a:rPr>
              <a:t>Применение вейвлетов: анализ ЭКГ</a:t>
            </a:r>
            <a:endParaRPr lang="en-US" dirty="0">
              <a:latin typeface="Bebas Neue Pro Exp Rg" panose="020B0506020202050201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FB9FA-4D87-4868-83B7-9538E1737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4557" y="11759"/>
            <a:ext cx="8213272" cy="373770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Bebas Neue Pro Exp Rg" panose="020B0506020202050201"/>
              </a:rPr>
              <a:t>ЭКГ содержит информативные компоненты на разных временных масштабах: быстрые и медленные изменения сердечного цикла.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Bebas Neue Pro Exp Rg" panose="020B0506020202050201"/>
              </a:rPr>
              <a:t>Вейвлет-преобразование позволяет выявлять локальные особенности сигнала, например QRS-комплекс.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Bebas Neue Pro Exp Rg" panose="020B0506020202050201"/>
              </a:rPr>
              <a:t>Метод обеспечивает точную временную локализацию сердечных событий.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Bebas Neue Pro Exp Rg" panose="020B0506020202050201"/>
              </a:rPr>
              <a:t>Вейвлет-анализ применяют для обнаружения аритмий, преждевременных желудочковых сокращений и оценки вариабельности сердечного ритма.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Bebas Neue Pro Exp Rg" panose="020B0506020202050201"/>
              </a:rPr>
              <a:t>Упрощенные дискретные вейвлет-преобразования используются в кардиостимуляторах и дефибрилляторах.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4A0AA7-6DDD-401F-85AB-9D8EA7C68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77844" y="3737702"/>
            <a:ext cx="7934473" cy="3120298"/>
          </a:xfrm>
        </p:spPr>
      </p:pic>
    </p:spTree>
    <p:extLst>
      <p:ext uri="{BB962C8B-B14F-4D97-AF65-F5344CB8AC3E}">
        <p14:creationId xmlns:p14="http://schemas.microsoft.com/office/powerpoint/2010/main" val="2183370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DB93-B718-4B17-8B04-FCAB320D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2320246" cy="3737701"/>
          </a:xfrm>
        </p:spPr>
        <p:txBody>
          <a:bodyPr anchor="ctr"/>
          <a:lstStyle/>
          <a:p>
            <a:r>
              <a:rPr lang="ru-RU" b="0" i="0" dirty="0">
                <a:effectLst/>
                <a:latin typeface="Bebas Neue Pro Exp Rg" panose="020B0506020202050201"/>
              </a:rPr>
              <a:t>Применение вейвлетов: распознавание речи</a:t>
            </a:r>
            <a:endParaRPr lang="en-US" dirty="0">
              <a:latin typeface="Bebas Neue Pro Exp Rg" panose="020B0506020202050201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FB9FA-4D87-4868-83B7-9538E1737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04557" y="11760"/>
            <a:ext cx="8213272" cy="3184660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Вейвлет-анализ хорошо подходит для речевых сигналов, потому что они нестационарны и содержат признаки на разных масштабах.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Работа вейвлетов близка к биологическому принципу слуха: высокие частоты анализируются с лучшим временным разрешением, низкие — с лучшим частотным.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Вейвлет-преобразование позволяет выделять характерные признаки отдельных фонем.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Вейвлеты помогают уменьшить проблему дикторозависимости и применяются в системах помощи людям с нарушениями речи.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B32B68-A7F3-460C-9A39-B201ED8F4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16729" y="3196419"/>
            <a:ext cx="6326868" cy="3661052"/>
          </a:xfrm>
        </p:spPr>
      </p:pic>
    </p:spTree>
    <p:extLst>
      <p:ext uri="{BB962C8B-B14F-4D97-AF65-F5344CB8AC3E}">
        <p14:creationId xmlns:p14="http://schemas.microsoft.com/office/powerpoint/2010/main" val="418964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152401"/>
            <a:ext cx="10018713" cy="91440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Bebas Neue Pro Exp Eb" panose="020B0706020202050201" pitchFamily="34" charset="-52"/>
              </a:rPr>
              <a:t>Преимущества и ограничения вейвлет-методов</a:t>
            </a:r>
            <a:endParaRPr lang="en-US" sz="3600" dirty="0">
              <a:latin typeface="Bebas Neue Pro Exp Eb" panose="020B0706020202050201" pitchFamily="34" charset="-52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F6EE85D-30E3-C82F-F5DB-D931AF38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066801"/>
            <a:ext cx="4607188" cy="780595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Bebas Neue Pro Exp Rg" panose="020B0506020202050201"/>
              </a:rPr>
              <a:t>Преимущества</a:t>
            </a:r>
            <a:endParaRPr lang="LID4096" sz="2400" dirty="0">
              <a:solidFill>
                <a:schemeClr val="tx1"/>
              </a:solidFill>
              <a:latin typeface="Bebas Neue Pro Exp Rg" panose="020B0506020202050201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F1F7B9B-D539-7DCF-9A4D-11F87B701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1847396"/>
            <a:ext cx="4895056" cy="4455433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Адаптивное частотно-временное разрешение для анализа нестационарных сигналов.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Хорошее выявление локальных особенностей: разрывов, пиков, скачков.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Разреженное представление сигнала, полезное для сжатия и шумоподавления.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Высокая вычислительная эффективность DWT и возможность точной реконструкции.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F2BEE16-E282-63BF-DBD4-2C9874323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07967" y="1066802"/>
            <a:ext cx="4895056" cy="780594"/>
          </a:xfrm>
        </p:spPr>
        <p:txBody>
          <a:bodyPr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400" dirty="0">
                <a:ln w="3175" cmpd="sng">
                  <a:noFill/>
                </a:ln>
                <a:solidFill>
                  <a:schemeClr val="tx1"/>
                </a:solidFill>
                <a:latin typeface="Bebas Neue Pro Exp Rg" panose="020B0506020202050201" pitchFamily="34" charset="-52"/>
                <a:ea typeface="+mj-ea"/>
                <a:cs typeface="+mj-cs"/>
              </a:rPr>
              <a:t>Ограничения</a:t>
            </a:r>
            <a:endParaRPr lang="LID4096" sz="2400" dirty="0">
              <a:ln w="3175" cmpd="sng">
                <a:noFill/>
              </a:ln>
              <a:solidFill>
                <a:schemeClr val="tx1"/>
              </a:solidFill>
              <a:latin typeface="Bebas Neue Pro Exp Rg" panose="020B0506020202050201" pitchFamily="34" charset="-52"/>
              <a:ea typeface="+mj-ea"/>
              <a:cs typeface="+mj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sz="quarter" idx="4"/>
          </p:nvPr>
        </p:nvSpPr>
        <p:spPr>
          <a:xfrm>
            <a:off x="6607967" y="1847396"/>
            <a:ext cx="4895056" cy="4455433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Нет универсального правила выбора подходящего вейвлета для любой задачи.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Возможны граничные эффекты при обработке сигналов конечной длины.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Непрерывное вейвлет-преобразование требует больших вычислительных ресурсов.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Bebas Neue Pro Exp Rg" panose="020B0506020202050201"/>
              </a:rPr>
              <a:t>DWT неинвариантно к сдвигу, а фазовая информация представлена ограниченно.</a:t>
            </a:r>
          </a:p>
        </p:txBody>
      </p:sp>
    </p:spTree>
    <p:extLst>
      <p:ext uri="{BB962C8B-B14F-4D97-AF65-F5344CB8AC3E}">
        <p14:creationId xmlns:p14="http://schemas.microsoft.com/office/powerpoint/2010/main" val="2265319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 rtlCol="0">
            <a:normAutofit/>
          </a:bodyPr>
          <a:lstStyle/>
          <a:p>
            <a:pPr algn="l"/>
            <a:r>
              <a:rPr lang="ru-RU" sz="6600" noProof="1">
                <a:latin typeface="Bebas Neue Pro Exp Eb" panose="020B0706020202050201" pitchFamily="34" charset="-52"/>
              </a:rPr>
              <a:t>Спасибо за внимание!</a:t>
            </a:r>
            <a:endParaRPr lang="ru-RU" sz="6200" noProof="1">
              <a:latin typeface="Bebas Neue Pro Exp Eb" panose="020B0706020202050201" pitchFamily="34" charset="-52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106728"/>
            <a:ext cx="6678386" cy="751271"/>
          </a:xfrm>
        </p:spPr>
        <p:txBody>
          <a:bodyPr rtlCol="0">
            <a:normAutofit/>
          </a:bodyPr>
          <a:lstStyle/>
          <a:p>
            <a:pPr marL="0" indent="0" algn="ctr" rtl="0">
              <a:buNone/>
            </a:pPr>
            <a:r>
              <a:rPr lang="ru-RU" sz="2400" noProof="1">
                <a:latin typeface="Bebas Neue Pro Exp Rg" panose="020B0506020202050201" pitchFamily="34" charset="-52"/>
              </a:rPr>
              <a:t>Студент группы 250541 Бобрик Владимир</a:t>
            </a:r>
          </a:p>
        </p:txBody>
      </p:sp>
    </p:spTree>
    <p:extLst>
      <p:ext uri="{BB962C8B-B14F-4D97-AF65-F5344CB8AC3E}">
        <p14:creationId xmlns:p14="http://schemas.microsoft.com/office/powerpoint/2010/main" val="3020839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635_TF22644756.potx" id="{27E14D99-0C46-44F1-815C-7CA62B8509D0}" vid="{1AF6B17D-3219-4A4E-BA4D-BFE8887A554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http://purl.org/dc/terms/"/>
    <ds:schemaRef ds:uri="71af3243-3dd4-4a8d-8c0d-dd76da1f02a5"/>
    <ds:schemaRef ds:uri="16c05727-aa75-4e4a-9b5f-8a80a1165891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Параллакс</Template>
  <TotalTime>0</TotalTime>
  <Words>2453</Words>
  <Application>Microsoft Office PowerPoint</Application>
  <PresentationFormat>Widescreen</PresentationFormat>
  <Paragraphs>144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Bebas Neue Pro Exp Eb</vt:lpstr>
      <vt:lpstr>Bebas Neue Pro Exp Rg</vt:lpstr>
      <vt:lpstr>Calibri</vt:lpstr>
      <vt:lpstr>Cambria Math</vt:lpstr>
      <vt:lpstr>Corbel</vt:lpstr>
      <vt:lpstr>KaTeX_Main</vt:lpstr>
      <vt:lpstr>pplxSerif</vt:lpstr>
      <vt:lpstr>Параллакс</vt:lpstr>
      <vt:lpstr>Вейвлет-функции</vt:lpstr>
      <vt:lpstr>Введение</vt:lpstr>
      <vt:lpstr>Что такое вейвлет</vt:lpstr>
      <vt:lpstr>Сравнение</vt:lpstr>
      <vt:lpstr>PowerPoint Presentation</vt:lpstr>
      <vt:lpstr>Математические свойства вейвлета</vt:lpstr>
      <vt:lpstr>Математические свойства вейвлета</vt:lpstr>
      <vt:lpstr>Типы вейвлет-преобразований</vt:lpstr>
      <vt:lpstr>Алгоритм Малла – быстрое вейвлет-преобразование</vt:lpstr>
      <vt:lpstr>Основные семейства вейвлетов</vt:lpstr>
      <vt:lpstr>Применение вейвлетов: сжатие изображений в JPEG2000</vt:lpstr>
      <vt:lpstr>Применение вейвлетов: шумоподавление сигналов</vt:lpstr>
      <vt:lpstr>Применение вейвлетов: анализ ЭКГ</vt:lpstr>
      <vt:lpstr>Применение вейвлетов: распознавание речи</vt:lpstr>
      <vt:lpstr>Преимущества и ограничения вейвлет-методов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2025-10-29T06:58:59Z</dcterms:created>
  <dcterms:modified xsi:type="dcterms:W3CDTF">2026-05-25T04:53:55Z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